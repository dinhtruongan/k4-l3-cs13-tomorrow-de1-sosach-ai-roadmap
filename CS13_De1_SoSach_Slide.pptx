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6b35038f6459d" /><Relationship Type="http://schemas.openxmlformats.org/officeDocument/2006/relationships/extended-properties" Target="/docProps/app.xml" Id="Rc3725c2ff3c3450e" /><Relationship Type="http://schemas.openxmlformats.org/officeDocument/2006/relationships/officeDocument" Target="/ppt/presentation.xml" Id="R861c84c98bfa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0845a57c547dc"/>
  </p:sldMasterIdLst>
  <p:notesMasterIdLst>
    <p:notesMasterId xmlns:r="http://schemas.openxmlformats.org/officeDocument/2006/relationships" r:id="R5814ef6cd5434775"/>
  </p:notesMasterIdLst>
  <p:sldIdLst>
    <p:sldId xmlns:r="http://schemas.openxmlformats.org/officeDocument/2006/relationships" id="256" r:id="R02dd42a0d0cf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deffe109443d6" /><Relationship Type="http://schemas.openxmlformats.org/officeDocument/2006/relationships/slideMaster" Target="/ppt/slideMasters/slideMaster1.xml" Id="Rf5c0845a57c547dc" /><Relationship Type="http://schemas.openxmlformats.org/officeDocument/2006/relationships/notesMaster" Target="/ppt/notesMasters/notesMaster1.xml" Id="R5814ef6cd5434775" /><Relationship Type="http://schemas.openxmlformats.org/officeDocument/2006/relationships/presProps" Target="/ppt/presProps.xml" Id="R1780f5cd548e4b1e" /><Relationship Type="http://schemas.openxmlformats.org/officeDocument/2006/relationships/tableStyles" Target="/ppt/tableStyles.xml" Id="R370fa03c422a4438" /><Relationship Type="http://schemas.openxmlformats.org/officeDocument/2006/relationships/slide" Target="/ppt/slides/slide1.xml" Id="R02dd42a0d0cf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48d513efb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c26b7f13341eb" /><Relationship Type="http://schemas.openxmlformats.org/officeDocument/2006/relationships/notesMaster" Target="/ppt/notesMasters/notesMaster1.xml" Id="R95118ed6c7aa41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766af43d340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62f9e82654d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94efdc45b4f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ba349880f44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169fa64ca48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b74f7c5f148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34C18-773A-46B9-AEB5-3CB554742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2912F1-A871-4D89-893D-E0476942E9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DA9E45-6A0C-4F60-88DC-A07F4B961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E066CA-D965-4293-8454-670F4BF13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BFF7E4-A29D-4165-BDD6-9D08B4F1D7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3A1915-C4B8-40EC-AA4E-4BB8433E96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AAF1BD-BD95-4AEA-8B71-9B5523F48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560961-B844-46C3-AEA9-C7E7A15692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41B7B0-B8A4-4943-B44F-E2FFEEAE04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3026D5-E452-43BE-B321-41CB27AB2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298addb3f4c1e" /><Relationship Type="http://schemas.openxmlformats.org/officeDocument/2006/relationships/slideLayout" Target="/ppt/slideLayouts/slideLayout1.xml" Id="Ra298e6dd243c4aca" /><Relationship Type="http://schemas.openxmlformats.org/officeDocument/2006/relationships/slideLayout" Target="/ppt/slideLayouts/slideLayout2.xml" Id="R33fb176660134db6" /><Relationship Type="http://schemas.openxmlformats.org/officeDocument/2006/relationships/slideLayout" Target="/ppt/slideLayouts/slideLayout3.xml" Id="R3c7917461c634bec" /><Relationship Type="http://schemas.openxmlformats.org/officeDocument/2006/relationships/slideLayout" Target="/ppt/slideLayouts/slideLayout4.xml" Id="R19165d5acab64e1f" /><Relationship Type="http://schemas.openxmlformats.org/officeDocument/2006/relationships/slideLayout" Target="/ppt/slideLayouts/slideLayout5.xml" Id="R0e85459800114521" /><Relationship Type="http://schemas.openxmlformats.org/officeDocument/2006/relationships/slideLayout" Target="/ppt/slideLayouts/slideLayout6.xml" Id="R0cf4a7baf440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8e6dd243c4aca"/>
    <p:sldLayoutId xmlns:r="http://schemas.openxmlformats.org/officeDocument/2006/relationships" id="2147483650" r:id="R33fb176660134db6"/>
    <p:sldLayoutId xmlns:r="http://schemas.openxmlformats.org/officeDocument/2006/relationships" id="2147483651" r:id="R3c7917461c634bec"/>
    <p:sldLayoutId xmlns:r="http://schemas.openxmlformats.org/officeDocument/2006/relationships" id="2147483652" r:id="R19165d5acab64e1f"/>
    <p:sldLayoutId xmlns:r="http://schemas.openxmlformats.org/officeDocument/2006/relationships" id="2147483653" r:id="R0e85459800114521"/>
    <p:sldLayoutId xmlns:r="http://schemas.openxmlformats.org/officeDocument/2006/relationships" id="2147483654" r:id="R0cf4a7baf440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c2ede7bf34d1c" /><Relationship Type="http://schemas.openxmlformats.org/officeDocument/2006/relationships/notesSlide" Target="/ppt/notesSlides/notesSlide1.xml" Id="R438f53dca6c8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04A7A-E77F-4252-86BC-DA707E4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8736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8736D"/>
                </a:solidFill>
              </a:defRPr>
            </a:pPr>
            <a:r>
              <a:rPr sz="1425" b="1">
                <a:solidFill>
                  <a:srgbClr val="38736D"/>
                </a:solidFill>
              </a:rPr>
              <a:t>TOMORROW  /  CS13  /  SỔSẠCH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9886A-1C0D-422E-AE69-1A6405A5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37"/>
                </a:solidFill>
              </a:defRPr>
            </a:pPr>
            <a:r>
              <a:rPr sz="3300" b="1">
                <a:solidFill>
                  <a:srgbClr val="173137"/>
                </a:solidFill>
              </a:rPr>
              <a:t>Lộ trình triển khai bản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9929D-BE71-4E03-90DA-547264A2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137"/>
                </a:solidFill>
              </a:defRPr>
            </a:pPr>
            <a:r>
              <a:rPr sz="1950" b="0">
                <a:solidFill>
                  <a:srgbClr val="173137"/>
                </a:solidFill>
              </a:rPr>
              <a:t>Ưu tiên an toàn mã số thuế và tiền trước khi tăng tự động hóa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FE408-0202-44CD-B49D-FEFADDBD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0–3 tháng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2DFA-3681-4B05-A2D7-D5E95532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5740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Đối chiếu MST, gắn cờ ngoại lệ; triển khai đọc ảnh bản 2.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Nhập hóa đơn điện tử: tích hợp chức năng sẵn có.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24AFB-90CB-4739-9EE9-161B873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3–6 tháng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91FB1-6B71-498B-A261-9FDE846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57525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Chỉ nâng mức 2 khi đạt cổng: 0 lỗi trọng yếu / 400 ca.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Mục tiêu giảm 50% giờ xử lý ảnh; đo lại trên pilot.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72F04-25DD-4E39-A3A0-0EC7175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6–12 tháng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98E6A-7FB5-4A89-A814-0334B5A4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5765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Mức 3 chỉ khám phá. Hạch toán chờ dữ liệu khách hàng.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Rà ngày 30/60/90 và khi model, giá, quy định thay đổi.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CE586-C70F-43F0-9C50-0FAF4F37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Nguồn lực &amp; kinh tế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24961-131C-44B7-9886-DD01730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Hạnh: 3 giờ/tuần; Tùng cần chốt lịch. Bộ 40 ca: 8,5 giờ.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Mức 1: 704đ/hóa đơn, biên gộp 68,8% (theo giả định đề).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CACC0-0582-4848-8041-D68E8F4C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197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Điều kiện dừng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27160-CB28-4733-854B-DE3B62BF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102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1 lỗi MST/tiền: dừng tự nhập. Dừng mở rộng nếu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ARPA &lt; 3,71 triệu: 2 tháng liên tiếp, ≥ 10 văn phòng.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B14E3-CA9E-4861-801D-B9F9B25D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6D"/>
                </a:solidFill>
              </a:defRPr>
            </a:pPr>
            <a:r>
              <a:rPr sz="1125" b="0">
                <a:solidFill>
                  <a:srgbClr val="59706D"/>
                </a:solidFill>
              </a:rPr>
              <a:t>Nguồn: CS13_HoSoTinhHuong, đề 1, tr. 2–3. Cổng 400 ca là đề xuất của nhóm.</a:t>
            </a:r>
          </a:p>
        </p:txBody>
      </p:sp>
    </p:spTree>
    <p:extLst>
      <p:ext uri="{BB962C8B-B14F-4D97-AF65-F5344CB8AC3E}">
        <p14:creationId xmlns:p14="http://schemas.microsoft.com/office/powerpoint/2010/main" val="53084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2026-10-16T05:29:32.4990000Z</dcterms:created>
  <dcterms:modified xsi:type="dcterms:W3CDTF">2026-10-16T05:29:32.4990000Z</dcterms:modified>
</coreProperties>
</file>